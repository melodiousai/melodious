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4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MELODIOUS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Machines to Read the Language of Music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4114800" cy="27432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Yateem  ·  Hassan Nasrallah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EECE490 — Introduction to Machine Learning  ·  AUB Spring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731520"/>
            <a:ext cx="2286000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8046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92240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965960"/>
            <a:ext cx="2286000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0391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92240" y="2532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3200400"/>
            <a:ext cx="2286000" cy="10058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32735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weeks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92240" y="3767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25296"/>
            <a:ext cx="347472" cy="34747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188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4356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photographs sheet music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069080" y="1243584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69080" y="12435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34924" y="1572768"/>
            <a:ext cx="0" cy="347472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347472" cy="34747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1901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INT8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21488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symbol classes detected &lt; 200ms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69080" y="1956816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69080" y="1956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34924" y="2286000"/>
            <a:ext cx="0" cy="347472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347472" cy="34747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2615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28620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+ staff + vertical overlap edges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2670048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069080" y="26700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4924" y="2999232"/>
            <a:ext cx="0" cy="347472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364992"/>
            <a:ext cx="347472" cy="34747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" y="33284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assembler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" y="3575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Graph Attention Network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69080" y="3383280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69080" y="33832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4924" y="3712464"/>
            <a:ext cx="0" cy="347472"/>
          </a:xfrm>
          <a:prstGeom prst="line">
            <a:avLst/>
          </a:prstGeom>
          <a:noFill/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4078224"/>
            <a:ext cx="347472" cy="34747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MusicXML + MIDI export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" y="42885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Playable in MuseScore, Finale, etc.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69080" y="4096512"/>
            <a:ext cx="1005840" cy="219456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069080" y="40965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94960" y="685800"/>
            <a:ext cx="3383280" cy="411480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77840" y="841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GNN?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77840" y="1298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chord problem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577840" y="15361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noteheads at the same position — chord or separate voices? Only a graph can answer via 2-hop reasoning.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77840" y="21214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can't do this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577840" y="23591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CNNs process each symbol independently. They get this wrong systematically.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77840" y="2944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= first ever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577840" y="318211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GNN-based OMR has been studied since 2017 but has NEVER shipped in any product. Melodious is first.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77840" y="3767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577840" y="400507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+0.48 F1 gain from relational context alone. YOLO alone: 0.27 → YOLO + GNN: ≥ 0.75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guarantee: raw images NEVER leave the device — only JSON bounding boxes are transmitted to the backend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RIGHT NOW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20240" cy="1554480"/>
          </a:xfrm>
          <a:prstGeom prst="rect">
            <a:avLst/>
          </a:prstGeom>
          <a:solidFill>
            <a:srgbClr val="FAEEDA"/>
          </a:solidFill>
          <a:ln w="12700">
            <a:solidFill>
              <a:srgbClr val="F1EF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achieved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0.27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777240"/>
            <a:ext cx="1920240" cy="1554480"/>
          </a:xfrm>
          <a:prstGeom prst="rect">
            <a:avLst/>
          </a:prstGeom>
          <a:solidFill>
            <a:srgbClr val="EAF3DE"/>
          </a:solidFill>
          <a:ln w="12700">
            <a:solidFill>
              <a:srgbClr val="F1EF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6.26×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reduction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4600" y="1801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5.3× — exceeded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1920240" cy="1554480"/>
          </a:xfrm>
          <a:prstGeom prst="rect">
            <a:avLst/>
          </a:prstGeom>
          <a:solidFill>
            <a:srgbClr val="EAF3DE"/>
          </a:solidFill>
          <a:ln w="12700">
            <a:solidFill>
              <a:srgbClr val="F1EF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1801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7–9 — on target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12280" y="777240"/>
            <a:ext cx="1920240" cy="1554480"/>
          </a:xfrm>
          <a:prstGeom prst="rect">
            <a:avLst/>
          </a:prstGeom>
          <a:solidFill>
            <a:srgbClr val="FCEBEB"/>
          </a:solidFill>
          <a:ln w="12700">
            <a:solidFill>
              <a:srgbClr val="F1EF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1228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12280" y="1801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10,000 — data starved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runs (with 4 bugs — see next slide)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+ RTX 3080 confirmed working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DeepScores V2 dataset available (1,362 images loaded)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 backbone (12.9M params, 15 classes)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 + checkpoint saving implemented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2542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still needs to be built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83464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 critical bugs in training code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to 10,000 images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fine-tuned detector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(GAT) assembler on MUSCIMA++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required baselines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MusicXML + MIDI export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Docker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4 CRITICAL BUGS TO FIX TODAY  (before any new training)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920240"/>
          </a:xfrm>
          <a:prstGeom prst="rect">
            <a:avLst/>
          </a:prstGeom>
          <a:solidFill>
            <a:srgbClr val="FCEBEB"/>
          </a:solidFill>
          <a:ln w="6350">
            <a:solidFill>
              <a:srgbClr val="A3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25603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27432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CRITICAL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834640" y="777240"/>
            <a:ext cx="1554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 : 244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08813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TX/TY sigmoid mismatch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380744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Loss computed on raw logits. Inference applies sigmoid(). Model trained in wrong space.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02536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Apply sigmoid() to pred_tx, pred_ty before MSE loss.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114800" cy="1920240"/>
          </a:xfrm>
          <a:prstGeom prst="rect">
            <a:avLst/>
          </a:prstGeom>
          <a:solidFill>
            <a:srgbClr val="FCEBEB"/>
          </a:solidFill>
          <a:ln w="6350">
            <a:solidFill>
              <a:srgbClr val="A3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114800" cy="25603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777240"/>
            <a:ext cx="27432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CRITICAL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0" y="777240"/>
            <a:ext cx="1554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model.py : 262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64608" y="108813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Width/height 1300× too small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4608" y="1380744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bw = exp(tw) × 0.5 — boxes 1,300× too small. Targets encode tw = log(w/img_w).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2002536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Change to: bw = exp(tw) × img_size.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114800" cy="1920240"/>
          </a:xfrm>
          <a:prstGeom prst="rect">
            <a:avLst/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834640"/>
            <a:ext cx="411480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MEDIUM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34640" y="2834640"/>
            <a:ext cx="1554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 : 375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" y="314553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undercounting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84048" y="3438144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Predictions with IoU &lt; 0.25 never counted as false positives. Precision is inflated.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4059936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the missing else clause to increment FP counter.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4114800" cy="1920240"/>
          </a:xfrm>
          <a:prstGeom prst="rect">
            <a:avLst/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834640"/>
            <a:ext cx="4114800" cy="2560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MEDIUM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2834640"/>
            <a:ext cx="1554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 : 268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64608" y="3145536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Gradient-blocking clamp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64608" y="3438144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pred_tw.clamp(max=5) before loss zeros gradients for large symbols.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64608" y="4059936"/>
            <a:ext cx="3895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Remove clamp from loss path. Keep only in inference path.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CA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with: python main.py --epochs 1 --max-train 10 --max-val 5   →  zero errors, F1 &gt; 0.0, no NaN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DIVIDE THE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023360" cy="4206240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402336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13232"/>
            <a:ext cx="32004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Yateem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713232"/>
            <a:ext cx="10972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lead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408176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13232" y="1344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training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3232" y="15636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 + YOLOv8 + GNN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8912" y="1847088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17830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expansion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0025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images + augmentation pipeline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" y="2286000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221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baselines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" y="24414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OpenCV, HOG+SVM, heuristic assembler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38912" y="2724912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26609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+ INT8 export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" y="28803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quantization + latency testing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38912" y="3163824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0998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evaluation metrics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" y="33192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per-class F1, confidence analysis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" y="3602736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" y="35387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3232" y="37581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JPEG, rotation, distribution shift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8912" y="4041648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3977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+ bias docs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13232" y="41970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Western-only bias, responsible ML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8912" y="4480560"/>
            <a:ext cx="182880" cy="1828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44165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report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" y="4636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fabricated metrics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713232"/>
            <a:ext cx="4023360" cy="4206240"/>
          </a:xfrm>
          <a:prstGeom prst="rect">
            <a:avLst/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713232"/>
            <a:ext cx="4023360" cy="5029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713232"/>
            <a:ext cx="3200400" cy="5029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Nasrallah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32320" y="713232"/>
            <a:ext cx="173736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/ integration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10912" y="1408176"/>
            <a:ext cx="182880" cy="1828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85232" y="1344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MUSCIMA++ parser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85232" y="15636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mung library, extract 82k edge labels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10912" y="1847088"/>
            <a:ext cx="182880" cy="1828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285232" y="17830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builder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85232" y="20025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+ staff + vertical overlap edges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10912" y="2286000"/>
            <a:ext cx="182880" cy="1828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85232" y="2221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3 — heuristic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85232" y="244144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Nearest-stem assembler (GNN comparison)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10912" y="2724912"/>
            <a:ext cx="182880" cy="1828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85232" y="266090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MusicXML + MIDI export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85232" y="28803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music21 pipeline from GNN output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010912" y="3163824"/>
            <a:ext cx="182880" cy="1828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285232" y="30998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285232" y="331927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/assemble /midi /health endpoints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010912" y="3602736"/>
            <a:ext cx="182880" cy="1828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285232" y="35387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85232" y="37581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redis, one docker-compose up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10912" y="4041648"/>
            <a:ext cx="182880" cy="1828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285232" y="39776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UI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285232" y="41970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overlay, MIDI playback, attention viz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010912" y="4480560"/>
            <a:ext cx="182880" cy="1828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285232" y="44165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285232" y="4636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musicians, 20 scores, 3 dimensions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7-WEEK TIMELINE  ·  Mar 14 – May 1,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69848"/>
            <a:ext cx="8595360" cy="54864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2064" y="1024128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" y="1408176"/>
            <a:ext cx="1005840" cy="31089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" y="14081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" y="177393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14–20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09728" y="2148840"/>
            <a:ext cx="1060704" cy="1005840"/>
          </a:xfrm>
          <a:prstGeom prst="rect">
            <a:avLst/>
          </a:prstGeom>
          <a:solidFill>
            <a:srgbClr val="EEEDFE"/>
          </a:solidFill>
          <a:ln w="381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" y="2148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+ YOLO retrain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(10k images, F1 ≥ 0.27)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9728" y="3291840"/>
            <a:ext cx="1060704" cy="1005840"/>
          </a:xfrm>
          <a:prstGeom prst="rect">
            <a:avLst/>
          </a:prstGeom>
          <a:solidFill>
            <a:srgbClr val="E1F5EE"/>
          </a:solidFill>
          <a:ln w="381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" y="3291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MUSCIMA++ parser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graph builder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8600" y="4407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737360" y="1024128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62456" y="1408176"/>
            <a:ext cx="1005840" cy="31089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62456" y="14081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177393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21–27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335024" y="2148840"/>
            <a:ext cx="1060704" cy="1005840"/>
          </a:xfrm>
          <a:prstGeom prst="rect">
            <a:avLst/>
          </a:prstGeom>
          <a:solidFill>
            <a:srgbClr val="EEEDFE"/>
          </a:solidFill>
          <a:ln w="381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35024" y="2148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fine-tune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Baselines 1 &amp; 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335024" y="3291840"/>
            <a:ext cx="1060704" cy="1005840"/>
          </a:xfrm>
          <a:prstGeom prst="rect">
            <a:avLst/>
          </a:prstGeom>
          <a:solidFill>
            <a:srgbClr val="E1F5EE"/>
          </a:solidFill>
          <a:ln w="381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35024" y="3291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skeleton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Docker Compose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53896" y="4407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962656" y="1024128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87752" y="1408176"/>
            <a:ext cx="1005840" cy="31089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87752" y="14081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23744" y="177393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28–Apr 3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560320" y="2148840"/>
            <a:ext cx="1060704" cy="1005840"/>
          </a:xfrm>
          <a:prstGeom prst="rect">
            <a:avLst/>
          </a:prstGeom>
          <a:solidFill>
            <a:srgbClr val="EEEDFE"/>
          </a:solidFill>
          <a:ln w="381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0" y="2148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GNN training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Baseline 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560320" y="3291840"/>
            <a:ext cx="1060704" cy="1005840"/>
          </a:xfrm>
          <a:prstGeom prst="rect">
            <a:avLst/>
          </a:prstGeom>
          <a:solidFill>
            <a:srgbClr val="E1F5EE"/>
          </a:solidFill>
          <a:ln w="381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560320" y="3291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MusicXML / MIDI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pipeline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679192" y="4407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v0.3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187952" y="1024128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13048" y="1408176"/>
            <a:ext cx="1005840" cy="31089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813048" y="14081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49040" y="177393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4–10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785616" y="2148840"/>
            <a:ext cx="1060704" cy="1005840"/>
          </a:xfrm>
          <a:prstGeom prst="rect">
            <a:avLst/>
          </a:prstGeom>
          <a:solidFill>
            <a:srgbClr val="EEEDFE"/>
          </a:solidFill>
          <a:ln w="381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85616" y="2148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INT8 export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combined F1 eval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85616" y="3291840"/>
            <a:ext cx="1060704" cy="1005840"/>
          </a:xfrm>
          <a:prstGeom prst="rect">
            <a:avLst/>
          </a:prstGeom>
          <a:solidFill>
            <a:srgbClr val="E1F5EE"/>
          </a:solidFill>
          <a:ln w="381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85616" y="3291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GNN wired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Streamlit core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904488" y="4407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13248" y="1024128"/>
            <a:ext cx="256032" cy="25603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038344" y="1408176"/>
            <a:ext cx="1005840" cy="31089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38344" y="14081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74336" y="177393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11–17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010912" y="2148840"/>
            <a:ext cx="1060704" cy="1005840"/>
          </a:xfrm>
          <a:prstGeom prst="rect">
            <a:avLst/>
          </a:prstGeom>
          <a:solidFill>
            <a:srgbClr val="EEEDFE"/>
          </a:solidFill>
          <a:ln w="381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10912" y="2148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benchmarks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robustness tests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010912" y="3291840"/>
            <a:ext cx="1060704" cy="1005840"/>
          </a:xfrm>
          <a:prstGeom prst="rect">
            <a:avLst/>
          </a:prstGeom>
          <a:solidFill>
            <a:srgbClr val="E1F5EE"/>
          </a:solidFill>
          <a:ln w="381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10912" y="3291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viz overlay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UI polish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129784" y="4407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638544" y="1024128"/>
            <a:ext cx="256032" cy="25603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63640" y="1408176"/>
            <a:ext cx="1005840" cy="31089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63640" y="14081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99632" y="177393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18–24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236208" y="2148840"/>
            <a:ext cx="1060704" cy="1005840"/>
          </a:xfrm>
          <a:prstGeom prst="rect">
            <a:avLst/>
          </a:prstGeom>
          <a:solidFill>
            <a:srgbClr val="EEEDFE"/>
          </a:solidFill>
          <a:ln w="381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36208" y="2148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+ all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tables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236208" y="3291840"/>
            <a:ext cx="1060704" cy="1005840"/>
          </a:xfrm>
          <a:prstGeom prst="rect">
            <a:avLst/>
          </a:prstGeom>
          <a:solidFill>
            <a:srgbClr val="E1F5EE"/>
          </a:solidFill>
          <a:ln w="381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36208" y="3291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 + Docker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+ README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355080" y="4407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863840" y="1024128"/>
            <a:ext cx="256032" cy="25603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488936" y="1408176"/>
            <a:ext cx="1005840" cy="310896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488936" y="14081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424928" y="177393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25–May 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461504" y="2148840"/>
            <a:ext cx="1060704" cy="1005840"/>
          </a:xfrm>
          <a:prstGeom prst="rect">
            <a:avLst/>
          </a:prstGeom>
          <a:solidFill>
            <a:srgbClr val="EEEDFE"/>
          </a:solidFill>
          <a:ln w="381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461504" y="2148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verification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461504" y="3291840"/>
            <a:ext cx="1060704" cy="1005840"/>
          </a:xfrm>
          <a:prstGeom prst="rect">
            <a:avLst/>
          </a:prstGeom>
          <a:solidFill>
            <a:srgbClr val="E1F5EE"/>
          </a:solidFill>
          <a:ln w="381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61504" y="3291840"/>
            <a:ext cx="1060704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submission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580376" y="44074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 rot="5400000">
            <a:off x="0" y="21488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 rot="5400000">
            <a:off x="0" y="3291840"/>
            <a:ext cx="228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274320" y="4818888"/>
            <a:ext cx="85953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1 — End of W3: Ahmad gives Hassan sample YOLO detection JSON     ·     Handoff 2 — End of W4: Ahmad gives Hassan trained GNN checkpoint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WE NEED TO HIT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554480" cy="1828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789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0.27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F1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epochs, scratch)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93392" y="960120"/>
            <a:ext cx="1554480" cy="1828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993392" y="10789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0.65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93392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F1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training)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12464" y="960120"/>
            <a:ext cx="1554480" cy="1828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12464" y="10789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12464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+ GNN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(combined)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31536" y="960120"/>
            <a:ext cx="1554480" cy="18288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31536" y="10789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31536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target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grade)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50608" y="960120"/>
            <a:ext cx="1554480" cy="1828800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50608" y="1078992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50608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(commercial ceiling)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118872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MB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model size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47088" y="2999232"/>
            <a:ext cx="118872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47088" y="2999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 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47088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latency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36976" y="2999232"/>
            <a:ext cx="118872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36976" y="2999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36976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accuracy drop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26864" y="2999232"/>
            <a:ext cx="118872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26864" y="2999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26864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better than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baseline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16752" y="2999232"/>
            <a:ext cx="118872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16752" y="2999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16752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baselines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6640" y="2999232"/>
            <a:ext cx="1188720" cy="27432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06640" y="2999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3319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ML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contribution: +0.48 F1 from relational context alone  ·  YOLO-only: 0.27  →  YOLO + GNN: ≥ 0.75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TOGETHER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303520" cy="274320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303520" cy="4114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53035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sync — every Friday or Saturday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335024"/>
            <a:ext cx="640080" cy="21945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43000" y="12984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 — did we hit last week's deliverable?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640080" cy="21945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43000" y="17007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&amp; tell — each person demos what they built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39696"/>
            <a:ext cx="640080" cy="21945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13969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43000" y="210312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— anything stuck? need the other person?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542032"/>
            <a:ext cx="640080" cy="21945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5420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43000" y="25054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next week's tasks — use this document as guide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944368"/>
            <a:ext cx="640080" cy="21945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94436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3000" y="29077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handoffs — any checkpoint/JSON to share?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5303520" cy="12801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943600" y="749808"/>
            <a:ext cx="2926080" cy="1371600"/>
          </a:xfrm>
          <a:prstGeom prst="rect">
            <a:avLst/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0" y="749808"/>
            <a:ext cx="2926080" cy="34747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749808"/>
            <a:ext cx="29260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Critical handoffs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3 (Apr 3)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→ Hassan: sample YOLO detection JSON
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4 (Apr 10)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→ Hassan: trained GNN checkpoint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0" y="2286000"/>
            <a:ext cx="2926080" cy="1417320"/>
          </a:xfrm>
          <a:prstGeom prst="rect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0" y="2286000"/>
            <a:ext cx="2926080" cy="34747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943600" y="2286000"/>
            <a:ext cx="292608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workflow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2706624"/>
            <a:ext cx="2816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 = always working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ahmad/week-N, hassan/week-N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each deliverable: v0.1, v0.2 ...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 = review + merge + tag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73075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if you're blocked for more than half a day, message immediately — don't wait for the weekly meeting.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FOR A FULL GRADE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965960" cy="2377440"/>
          </a:xfrm>
          <a:prstGeom prst="rect">
            <a:avLst/>
          </a:prstGeom>
          <a:solidFill>
            <a:srgbClr val="EEEDFE"/>
          </a:solidFill>
          <a:ln w="9525">
            <a:solidFill>
              <a:srgbClr val="534AB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96596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attention arrows drawn on score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color-coding: green/yellow/red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why the model decided what it did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749808"/>
            <a:ext cx="1965960" cy="2377440"/>
          </a:xfrm>
          <a:prstGeom prst="rect">
            <a:avLst/>
          </a:prstGeom>
          <a:solidFill>
            <a:srgbClr val="FAEEDA"/>
          </a:solidFill>
          <a:ln w="9525">
            <a:solidFill>
              <a:srgbClr val="854F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50592" y="749808"/>
            <a:ext cx="1965960" cy="34747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7498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117043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card: Western-only training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Non-Western flag if confidence &lt; 0.4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Makam, sargam, jianpu: out-of-scope explicitly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749808"/>
            <a:ext cx="1965960" cy="2377440"/>
          </a:xfrm>
          <a:prstGeom prst="rect">
            <a:avLst/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26864" y="749808"/>
            <a:ext cx="1965960" cy="34747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26864" y="7498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36592" y="117043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 NEVER leave the phone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JSON bboxes transmitted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 UI + FastAPI code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749808"/>
            <a:ext cx="1965960" cy="2377440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03136" y="749808"/>
            <a:ext cx="1965960" cy="34747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03136" y="7498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12864" y="1170432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vs noise / JPEG / rotation curves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Print→handwriting distribution shift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gap reported honestly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Must-have for full marks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≥ 0.27 scratch baseline on fixed holdout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≥ 0.75 combined YOLO + GNN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baselines measured on same holdout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mAP@0.5, per-class F1 histogram, PR curves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 written + submitted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random seeds committed to repo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 from clean clone works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video: image → assemble → MIDI playback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only after MVP is solid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135 symbol classes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 conversational layer (music Q&amp;A)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React Native mobile app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PDMX synthetic augmentation for rare classes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draft (ISMIR / SMC)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GNN-based OMR system ever deployed in a working product.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657600" cy="27432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meeting: this Friday or Saturday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621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 Bug fixes done? Holdout fixed? MUSCIMA++ parsed? Block anything?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Week 2 tasks together.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Yateem  ·  Hassan Nasrallah  ·  EECE490 Spring 2026  ·  American University of Beirut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1417</Words>
  <Application>Microsoft Office PowerPoint</Application>
  <PresentationFormat>On-screen Show (16:9)</PresentationFormat>
  <Paragraphs>285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Melodious — Project Plan</dc:title>
  <dc:subject>PptxGenJS Presentation</dc:subject>
  <dc:creator>Ahmad Yateem &amp; Hassan Nasrallah</dc:creator>
  <cp:lastModifiedBy>Hassan Nasrallah</cp:lastModifiedBy>
  <cp:revision>2</cp:revision>
  <dcterms:created xsi:type="dcterms:W3CDTF">2026-03-14T01:29:04Z</dcterms:created>
  <dcterms:modified xsi:type="dcterms:W3CDTF">2026-04-02T15:26:02Z</dcterms:modified>
</cp:coreProperties>
</file>